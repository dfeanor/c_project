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ink/ink1.xml" ContentType="application/inkml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62" r:id="rId2"/>
    <p:sldId id="363" r:id="rId3"/>
    <p:sldId id="365" r:id="rId4"/>
    <p:sldId id="364" r:id="rId5"/>
    <p:sldId id="369" r:id="rId6"/>
    <p:sldId id="371" r:id="rId7"/>
    <p:sldId id="370" r:id="rId8"/>
    <p:sldId id="388" r:id="rId9"/>
    <p:sldId id="372" r:id="rId10"/>
    <p:sldId id="373" r:id="rId11"/>
    <p:sldId id="374" r:id="rId12"/>
    <p:sldId id="375" r:id="rId13"/>
    <p:sldId id="389" r:id="rId14"/>
    <p:sldId id="366" r:id="rId15"/>
    <p:sldId id="367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9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B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5196" autoAdjust="0"/>
  </p:normalViewPr>
  <p:slideViewPr>
    <p:cSldViewPr snapToGrid="0">
      <p:cViewPr varScale="1">
        <p:scale>
          <a:sx n="115" d="100"/>
          <a:sy n="115" d="100"/>
        </p:scale>
        <p:origin x="270" y="114"/>
      </p:cViewPr>
      <p:guideLst>
        <p:guide orient="horz" pos="232"/>
        <p:guide pos="7355"/>
        <p:guide pos="325"/>
        <p:guide orient="horz" pos="40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88" y="2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4-25T16:36:51.7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6525A-DCA3-A14A-9D42-6E8DA00EDF9A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3A485-59BB-7644-8D78-C7ECD4C21C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938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776EE8-20DE-39B2-2466-2222E070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42CE4CC-972C-DB2C-C885-A704000E5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397" y="971944"/>
            <a:ext cx="5616575" cy="3292597"/>
          </a:xfrm>
          <a:prstGeom prst="rect">
            <a:avLst/>
          </a:prstGeom>
        </p:spPr>
        <p:txBody>
          <a:bodyPr anchor="b"/>
          <a:lstStyle>
            <a:lvl1pPr>
              <a:defRPr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6131443-64EB-E1C1-3992-E9A9518023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396" y="4354481"/>
            <a:ext cx="5616575" cy="15780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Play" pitchFamily="2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E3A5056C-389B-1156-CA24-69587C25A1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47A062C5-33E3-A50F-169A-A73FA387C7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35944" y="0"/>
            <a:ext cx="6056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6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87BEF-3A0F-13E4-AB90-849CD0E3C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2763"/>
            <a:ext cx="11196000" cy="1324800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1C545-F04F-7298-05F5-2636C10D8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915200"/>
            <a:ext cx="11196638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 baseline="0"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65DE026-4FF2-C98D-D841-49D319E6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649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87BEF-3A0F-13E4-AB90-849CD0E3C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2763"/>
            <a:ext cx="11196000" cy="1324800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1C545-F04F-7298-05F5-2636C10D8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915200"/>
            <a:ext cx="11196638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 baseline="0"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8137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DCAFDB-C738-C441-45F5-A525CFB59E00}"/>
              </a:ext>
            </a:extLst>
          </p:cNvPr>
          <p:cNvSpPr/>
          <p:nvPr userDrawn="1"/>
        </p:nvSpPr>
        <p:spPr>
          <a:xfrm>
            <a:off x="0" y="0"/>
            <a:ext cx="12192001" cy="42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89EAA-7ECC-5651-C5D2-B59B531E967D}"/>
              </a:ext>
            </a:extLst>
          </p:cNvPr>
          <p:cNvSpPr/>
          <p:nvPr userDrawn="1"/>
        </p:nvSpPr>
        <p:spPr>
          <a:xfrm>
            <a:off x="0" y="0"/>
            <a:ext cx="42741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A976E-405B-8F12-2543-B47FC78F5C30}"/>
              </a:ext>
            </a:extLst>
          </p:cNvPr>
          <p:cNvSpPr/>
          <p:nvPr userDrawn="1"/>
        </p:nvSpPr>
        <p:spPr>
          <a:xfrm>
            <a:off x="0" y="6429600"/>
            <a:ext cx="12192000" cy="42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Play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EAB003A-59BD-7C1E-E672-402784E54955}"/>
              </a:ext>
            </a:extLst>
          </p:cNvPr>
          <p:cNvSpPr/>
          <p:nvPr userDrawn="1"/>
        </p:nvSpPr>
        <p:spPr>
          <a:xfrm>
            <a:off x="11764585" y="0"/>
            <a:ext cx="42741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87BEF-3A0F-13E4-AB90-849CD0E3C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12763"/>
            <a:ext cx="11196000" cy="1324800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1C545-F04F-7298-05F5-2636C10D8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915200"/>
            <a:ext cx="11196638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 baseline="0"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1992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196638" cy="2852737"/>
          </a:xfrm>
          <a:prstGeom prst="rect">
            <a:avLst/>
          </a:prstGeom>
        </p:spPr>
        <p:txBody>
          <a:bodyPr anchor="b"/>
          <a:lstStyle>
            <a:lvl1pPr>
              <a:defRPr sz="6000"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F7EDC4-F182-5085-4493-AD9B4FD0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626787"/>
            <a:ext cx="1119663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1589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196638" cy="2852737"/>
          </a:xfrm>
          <a:prstGeom prst="rect">
            <a:avLst/>
          </a:prstGeom>
        </p:spPr>
        <p:txBody>
          <a:bodyPr anchor="b"/>
          <a:lstStyle>
            <a:lvl1pPr>
              <a:defRPr sz="6000"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F7EDC4-F182-5085-4493-AD9B4FD0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626787"/>
            <a:ext cx="1119663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3282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3DEDC0-C92E-782F-B5CE-EB640784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196638" cy="2852737"/>
          </a:xfrm>
          <a:prstGeom prst="rect">
            <a:avLst/>
          </a:prstGeom>
        </p:spPr>
        <p:txBody>
          <a:bodyPr anchor="b"/>
          <a:lstStyle>
            <a:lvl1pPr>
              <a:defRPr sz="6000"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id="{64FEC4FE-EC09-C499-E50C-578AAF97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626787"/>
            <a:ext cx="1119663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78720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B98527-4301-9EA6-8361-9B61B4482F97}"/>
              </a:ext>
            </a:extLst>
          </p:cNvPr>
          <p:cNvSpPr/>
          <p:nvPr userDrawn="1"/>
        </p:nvSpPr>
        <p:spPr>
          <a:xfrm>
            <a:off x="0" y="522707"/>
            <a:ext cx="10489803" cy="42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D65CBBF-C1B8-D430-BCA5-6D02761CC210}"/>
              </a:ext>
            </a:extLst>
          </p:cNvPr>
          <p:cNvSpPr/>
          <p:nvPr userDrawn="1"/>
        </p:nvSpPr>
        <p:spPr>
          <a:xfrm>
            <a:off x="1702197" y="0"/>
            <a:ext cx="427415" cy="63352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AA2799-E6A0-53DE-0D5D-E1D616CAE5AF}"/>
              </a:ext>
            </a:extLst>
          </p:cNvPr>
          <p:cNvSpPr/>
          <p:nvPr userDrawn="1"/>
        </p:nvSpPr>
        <p:spPr>
          <a:xfrm>
            <a:off x="1702197" y="5906893"/>
            <a:ext cx="10489803" cy="42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Play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D7A177-5B71-FCBF-57C6-41AB35703E58}"/>
              </a:ext>
            </a:extLst>
          </p:cNvPr>
          <p:cNvSpPr/>
          <p:nvPr userDrawn="1"/>
        </p:nvSpPr>
        <p:spPr>
          <a:xfrm>
            <a:off x="10062388" y="522707"/>
            <a:ext cx="427415" cy="6366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212" y="1265596"/>
            <a:ext cx="7415577" cy="2852737"/>
          </a:xfrm>
          <a:prstGeom prst="rect">
            <a:avLst/>
          </a:prstGeom>
        </p:spPr>
        <p:txBody>
          <a:bodyPr anchor="b"/>
          <a:lstStyle>
            <a:lvl1pPr algn="ctr">
              <a:defRPr sz="6000"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F7EDC4-F182-5085-4493-AD9B4FD0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8212" y="4182645"/>
            <a:ext cx="741557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50203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196638" cy="2852737"/>
          </a:xfrm>
          <a:prstGeom prst="rect">
            <a:avLst/>
          </a:prstGeom>
        </p:spPr>
        <p:txBody>
          <a:bodyPr anchor="b"/>
          <a:lstStyle>
            <a:lvl1pPr>
              <a:defRPr sz="6000" b="1" i="0" baseline="0"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F7EDC4-F182-5085-4493-AD9B4FD0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626787"/>
            <a:ext cx="1119663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217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 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1709738"/>
            <a:ext cx="11196638" cy="2852737"/>
          </a:xfrm>
          <a:prstGeom prst="rect">
            <a:avLst/>
          </a:prstGeom>
        </p:spPr>
        <p:txBody>
          <a:bodyPr anchor="b"/>
          <a:lstStyle>
            <a:lvl1pPr>
              <a:defRPr sz="6000" b="1" i="0" baseline="0"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F7EDC4-F182-5085-4493-AD9B4FD03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4626787"/>
            <a:ext cx="11196637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Рукописный ввод 3">
                <a:extLst>
                  <a:ext uri="{FF2B5EF4-FFF2-40B4-BE49-F238E27FC236}">
                    <a16:creationId xmlns:a16="http://schemas.microsoft.com/office/drawing/2014/main" id="{69ABA2BB-97CE-658F-F74A-ABB4C4E260FC}"/>
                  </a:ext>
                </a:extLst>
              </p14:cNvPr>
              <p14:cNvContentPartPr/>
              <p14:nvPr userDrawn="1"/>
            </p14:nvContentPartPr>
            <p14:xfrm>
              <a:off x="973629" y="-3532225"/>
              <a:ext cx="360" cy="360"/>
            </p14:xfrm>
          </p:contentPart>
        </mc:Choice>
        <mc:Fallback xmlns="">
          <p:pic>
            <p:nvPicPr>
              <p:cNvPr id="4" name="Рукописный ввод 3">
                <a:extLst>
                  <a:ext uri="{FF2B5EF4-FFF2-40B4-BE49-F238E27FC236}">
                    <a16:creationId xmlns:a16="http://schemas.microsoft.com/office/drawing/2014/main" id="{69ABA2BB-97CE-658F-F74A-ABB4C4E260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9629" y="-363986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529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2D4343-154D-D470-6AE8-5970D3F01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111960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E532C3-5F9B-D743-D190-65891DD51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800" y="1915200"/>
            <a:ext cx="525285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25F718-6FA8-A1FC-A466-397C0140E9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3213" y="1915319"/>
            <a:ext cx="52528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8D590C-E4AF-F935-DBD1-DB54C750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3682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4807C-ADDF-1993-3A9D-709DF9D41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111960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79A101-206D-0542-AD44-6AE726359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800" y="1915200"/>
            <a:ext cx="525285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Объект 3">
            <a:extLst>
              <a:ext uri="{FF2B5EF4-FFF2-40B4-BE49-F238E27FC236}">
                <a16:creationId xmlns:a16="http://schemas.microsoft.com/office/drawing/2014/main" id="{2B21981E-1131-A8F5-A419-CAB7203F2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3213" y="1915319"/>
            <a:ext cx="52528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5855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DCAFDB-C738-C441-45F5-A525CFB59E00}"/>
              </a:ext>
            </a:extLst>
          </p:cNvPr>
          <p:cNvSpPr/>
          <p:nvPr userDrawn="1"/>
        </p:nvSpPr>
        <p:spPr>
          <a:xfrm>
            <a:off x="0" y="0"/>
            <a:ext cx="12192001" cy="42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89EAA-7ECC-5651-C5D2-B59B531E967D}"/>
              </a:ext>
            </a:extLst>
          </p:cNvPr>
          <p:cNvSpPr/>
          <p:nvPr userDrawn="1"/>
        </p:nvSpPr>
        <p:spPr>
          <a:xfrm>
            <a:off x="0" y="0"/>
            <a:ext cx="42741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A976E-405B-8F12-2543-B47FC78F5C30}"/>
              </a:ext>
            </a:extLst>
          </p:cNvPr>
          <p:cNvSpPr/>
          <p:nvPr userDrawn="1"/>
        </p:nvSpPr>
        <p:spPr>
          <a:xfrm>
            <a:off x="0" y="6429600"/>
            <a:ext cx="12192000" cy="42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Play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EAB003A-59BD-7C1E-E672-402784E54955}"/>
              </a:ext>
            </a:extLst>
          </p:cNvPr>
          <p:cNvSpPr/>
          <p:nvPr userDrawn="1"/>
        </p:nvSpPr>
        <p:spPr>
          <a:xfrm>
            <a:off x="11764585" y="0"/>
            <a:ext cx="42741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50F1A6D-0C1F-752C-0448-4386D8EB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11196000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1271ECB-361B-2CBB-E320-119E05FF9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800" y="1915200"/>
            <a:ext cx="5252852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C8114036-CAB5-53FC-983F-8540CD5DC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3213" y="1915319"/>
            <a:ext cx="52528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  <a:lvl2pPr>
              <a:defRPr>
                <a:latin typeface="Play" pitchFamily="2" charset="0"/>
              </a:defRPr>
            </a:lvl2pPr>
            <a:lvl3pPr>
              <a:defRPr>
                <a:latin typeface="Play" pitchFamily="2" charset="0"/>
              </a:defRPr>
            </a:lvl3pPr>
            <a:lvl4pPr>
              <a:defRPr>
                <a:latin typeface="Play" pitchFamily="2" charset="0"/>
              </a:defRPr>
            </a:lvl4pPr>
            <a:lvl5pPr>
              <a:defRPr>
                <a:latin typeface="Play" pitchFamily="2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67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B98527-4301-9EA6-8361-9B61B4482F97}"/>
              </a:ext>
            </a:extLst>
          </p:cNvPr>
          <p:cNvSpPr/>
          <p:nvPr userDrawn="1"/>
        </p:nvSpPr>
        <p:spPr>
          <a:xfrm>
            <a:off x="0" y="522707"/>
            <a:ext cx="10489803" cy="42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D65CBBF-C1B8-D430-BCA5-6D02761CC210}"/>
              </a:ext>
            </a:extLst>
          </p:cNvPr>
          <p:cNvSpPr/>
          <p:nvPr userDrawn="1"/>
        </p:nvSpPr>
        <p:spPr>
          <a:xfrm>
            <a:off x="1702197" y="0"/>
            <a:ext cx="427415" cy="63352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AA2799-E6A0-53DE-0D5D-E1D616CAE5AF}"/>
              </a:ext>
            </a:extLst>
          </p:cNvPr>
          <p:cNvSpPr/>
          <p:nvPr userDrawn="1"/>
        </p:nvSpPr>
        <p:spPr>
          <a:xfrm>
            <a:off x="1702197" y="5906893"/>
            <a:ext cx="10489803" cy="42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Play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D7A177-5B71-FCBF-57C6-41AB35703E58}"/>
              </a:ext>
            </a:extLst>
          </p:cNvPr>
          <p:cNvSpPr/>
          <p:nvPr userDrawn="1"/>
        </p:nvSpPr>
        <p:spPr>
          <a:xfrm>
            <a:off x="10062388" y="522707"/>
            <a:ext cx="427415" cy="63661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29B7-6A8C-4383-0213-4679F920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212" y="1242398"/>
            <a:ext cx="7415577" cy="4373204"/>
          </a:xfrm>
          <a:prstGeom prst="rect">
            <a:avLst/>
          </a:prstGeom>
        </p:spPr>
        <p:txBody>
          <a:bodyPr anchor="ctr"/>
          <a:lstStyle>
            <a:lvl1pPr algn="ctr">
              <a:defRPr sz="6000" b="1" i="0" baseline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133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A6A573-B29A-89DA-3492-0E03B12E6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4259" y="930521"/>
            <a:ext cx="8883483" cy="4996959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2" name="Номер слайда 4">
            <a:extLst>
              <a:ext uri="{FF2B5EF4-FFF2-40B4-BE49-F238E27FC236}">
                <a16:creationId xmlns:a16="http://schemas.microsoft.com/office/drawing/2014/main" id="{BCED022C-3906-23D0-9929-93DBC121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69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исунок 7">
            <a:extLst>
              <a:ext uri="{FF2B5EF4-FFF2-40B4-BE49-F238E27FC236}">
                <a16:creationId xmlns:a16="http://schemas.microsoft.com/office/drawing/2014/main" id="{C6E2CAC2-489B-F033-341B-8E0CF281BD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4259" y="930521"/>
            <a:ext cx="8883483" cy="4996959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6605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A6A573-B29A-89DA-3492-0E03B12E6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4259" y="930521"/>
            <a:ext cx="8883483" cy="4996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543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A6A573-B29A-89DA-3492-0E03B12E6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54259" y="930521"/>
            <a:ext cx="8883483" cy="4996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8715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A6A573-B29A-89DA-3492-0E03B12E6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2108" y="930521"/>
            <a:ext cx="7647785" cy="4301879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2" name="Номер слайда 4">
            <a:extLst>
              <a:ext uri="{FF2B5EF4-FFF2-40B4-BE49-F238E27FC236}">
                <a16:creationId xmlns:a16="http://schemas.microsoft.com/office/drawing/2014/main" id="{BCED022C-3906-23D0-9929-93DBC121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56090979-4592-BE18-A8C0-C69C444F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109" y="5326939"/>
            <a:ext cx="7647784" cy="101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2651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Рисунок 7">
            <a:extLst>
              <a:ext uri="{FF2B5EF4-FFF2-40B4-BE49-F238E27FC236}">
                <a16:creationId xmlns:a16="http://schemas.microsoft.com/office/drawing/2014/main" id="{564D461F-DFA0-938F-5D9C-80AE5E29B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2108" y="930521"/>
            <a:ext cx="7647785" cy="4301879"/>
          </a:xfrm>
          <a:prstGeom prst="rect">
            <a:avLst/>
          </a:prstGeo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C608B96C-A4CA-70EB-E2BD-4B47E71B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109" y="5326939"/>
            <a:ext cx="7647784" cy="101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tx1">
                    <a:tint val="75000"/>
                  </a:schemeClr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51951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5FA6A573-B29A-89DA-3492-0E03B12E68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2108" y="930521"/>
            <a:ext cx="7647785" cy="43018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2" name="Номер слайда 4">
            <a:extLst>
              <a:ext uri="{FF2B5EF4-FFF2-40B4-BE49-F238E27FC236}">
                <a16:creationId xmlns:a16="http://schemas.microsoft.com/office/drawing/2014/main" id="{BCED022C-3906-23D0-9929-93DBC121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56090979-4592-BE18-A8C0-C69C444F2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109" y="5326939"/>
            <a:ext cx="7647784" cy="101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3513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2BECEB-C53F-E131-1696-D078EB7D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исунок 7">
            <a:extLst>
              <a:ext uri="{FF2B5EF4-FFF2-40B4-BE49-F238E27FC236}">
                <a16:creationId xmlns:a16="http://schemas.microsoft.com/office/drawing/2014/main" id="{C82764A2-27ED-FB22-2A4D-77F01DD201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72108" y="930521"/>
            <a:ext cx="7647785" cy="43018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lay" pitchFamily="2" charset="0"/>
              </a:defRPr>
            </a:lvl1pPr>
          </a:lstStyle>
          <a:p>
            <a:r>
              <a:rPr lang="ru-RU"/>
              <a:t>Вставка рисунка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9A0B2F-2486-3A0F-0FD2-9E49C92BA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2109" y="5326939"/>
            <a:ext cx="7647784" cy="1018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aseline="0">
                <a:solidFill>
                  <a:schemeClr val="bg1"/>
                </a:solidFill>
                <a:latin typeface="Play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5495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аголовок и рисун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19D7C1-0C35-D367-52B3-2A33F4F8B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33AE2B-E25D-8EAA-63D1-7701DF2B0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lay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E5A2EA-261E-9B45-4E2A-9F80FBB8B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800" y="2297112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lay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F8824B-DC4A-D87E-DE49-CC343B2A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3849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9413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EB83AF0-CE1F-2B68-8BD9-4B54A29A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Рисунок 2">
            <a:extLst>
              <a:ext uri="{FF2B5EF4-FFF2-40B4-BE49-F238E27FC236}">
                <a16:creationId xmlns:a16="http://schemas.microsoft.com/office/drawing/2014/main" id="{667B2075-E304-EB2B-D586-B32FA1AD1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lay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299A97D2-90F2-704E-80F8-550AF6851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800" y="2297112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lay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0948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8DCAFDB-C738-C441-45F5-A525CFB59E00}"/>
              </a:ext>
            </a:extLst>
          </p:cNvPr>
          <p:cNvSpPr/>
          <p:nvPr userDrawn="1"/>
        </p:nvSpPr>
        <p:spPr>
          <a:xfrm>
            <a:off x="0" y="0"/>
            <a:ext cx="12192001" cy="42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989EAA-7ECC-5651-C5D2-B59B531E967D}"/>
              </a:ext>
            </a:extLst>
          </p:cNvPr>
          <p:cNvSpPr/>
          <p:nvPr userDrawn="1"/>
        </p:nvSpPr>
        <p:spPr>
          <a:xfrm>
            <a:off x="0" y="0"/>
            <a:ext cx="42741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1A976E-405B-8F12-2543-B47FC78F5C30}"/>
              </a:ext>
            </a:extLst>
          </p:cNvPr>
          <p:cNvSpPr/>
          <p:nvPr userDrawn="1"/>
        </p:nvSpPr>
        <p:spPr>
          <a:xfrm>
            <a:off x="0" y="6429600"/>
            <a:ext cx="12192000" cy="428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Play" pitchFamily="2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EAB003A-59BD-7C1E-E672-402784E54955}"/>
              </a:ext>
            </a:extLst>
          </p:cNvPr>
          <p:cNvSpPr/>
          <p:nvPr userDrawn="1"/>
        </p:nvSpPr>
        <p:spPr>
          <a:xfrm>
            <a:off x="11764585" y="0"/>
            <a:ext cx="42741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Play" pitchFamily="2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E2A13-3B34-0BE0-FEF7-2D50C54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1600" y="6462000"/>
            <a:ext cx="2743200" cy="365125"/>
          </a:xfrm>
        </p:spPr>
        <p:txBody>
          <a:bodyPr/>
          <a:lstStyle>
            <a:lvl1pPr>
              <a:defRPr>
                <a:latin typeface="Play" pitchFamily="2" charset="0"/>
              </a:defRPr>
            </a:lvl1pPr>
          </a:lstStyle>
          <a:p>
            <a:fld id="{EF6E9CCF-6B77-014E-B148-8F01409ADD26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056E1-03D7-7183-DFD0-74AACB808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512763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 b="1" i="0">
                <a:solidFill>
                  <a:schemeClr val="accent2"/>
                </a:solidFill>
                <a:latin typeface="Play" pitchFamily="2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35854D-9FD4-FDB5-EE24-6C6FCC6D66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lay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F6B924EA-112E-88C7-6C5F-F07418E5C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800" y="2297112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Play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042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D083F3-A982-F0A4-6D12-6EBC47F48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31600" y="6462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E9CCF-6B77-014E-B148-8F01409AD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68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59" r:id="rId4"/>
    <p:sldLayoutId id="2147483651" r:id="rId5"/>
    <p:sldLayoutId id="2147483673" r:id="rId6"/>
    <p:sldLayoutId id="2147483668" r:id="rId7"/>
    <p:sldLayoutId id="2147483661" r:id="rId8"/>
    <p:sldLayoutId id="2147483660" r:id="rId9"/>
    <p:sldLayoutId id="2147483662" r:id="rId10"/>
    <p:sldLayoutId id="2147483652" r:id="rId11"/>
    <p:sldLayoutId id="2147483674" r:id="rId12"/>
    <p:sldLayoutId id="2147483676" r:id="rId13"/>
    <p:sldLayoutId id="2147483675" r:id="rId14"/>
    <p:sldLayoutId id="2147483664" r:id="rId15"/>
    <p:sldLayoutId id="2147483669" r:id="rId16"/>
    <p:sldLayoutId id="2147483663" r:id="rId17"/>
    <p:sldLayoutId id="2147483672" r:id="rId18"/>
    <p:sldLayoutId id="2147483666" r:id="rId19"/>
    <p:sldLayoutId id="2147483670" r:id="rId20"/>
    <p:sldLayoutId id="2147483671" r:id="rId21"/>
    <p:sldLayoutId id="2147483665" r:id="rId22"/>
    <p:sldLayoutId id="2147483657" r:id="rId23"/>
    <p:sldLayoutId id="2147483677" r:id="rId24"/>
    <p:sldLayoutId id="214748367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97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3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уравнения Стокса в области со сложной геометрией границ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139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7E11-C7C8-4095-BD71-B5E43E46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Проницаемость горных пород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92BC51-4D39-4D9A-B059-81663A13B78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D34D61-4788-4689-8729-8820AA2DF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sz="1400" dirty="0"/>
              <a:t>Абсолютная проницаемость – проницаемость породы при однофазном течении, т.е. когда через поровое пространство течет только одна жидкость</a:t>
            </a:r>
            <a:endParaRPr lang="en-US" sz="1400" dirty="0"/>
          </a:p>
          <a:p>
            <a:pPr marL="0" indent="0">
              <a:buNone/>
            </a:pPr>
            <a:r>
              <a:rPr lang="ru-RU" sz="1400" dirty="0"/>
              <a:t>Абсолютная проницаемость вычисляется с помощью закона Дарси</a:t>
            </a:r>
            <a:endParaRPr lang="en-US" sz="1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sz="1200" dirty="0"/>
              <a:t>q - поток жидкости 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k – проницаемость 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A – площадь поперечного сечения</a:t>
            </a:r>
            <a:endParaRPr lang="en-US" sz="1200" dirty="0"/>
          </a:p>
          <a:p>
            <a:pPr marL="0" indent="0">
              <a:buNone/>
            </a:pPr>
            <a:r>
              <a:rPr lang="ru-RU" sz="1200" dirty="0" err="1"/>
              <a:t>dP</a:t>
            </a:r>
            <a:r>
              <a:rPr lang="ru-RU" sz="1200" dirty="0"/>
              <a:t> – перепад давления</a:t>
            </a:r>
            <a:endParaRPr lang="en-US" sz="1200" dirty="0"/>
          </a:p>
          <a:p>
            <a:pPr marL="0" indent="0">
              <a:buNone/>
            </a:pPr>
            <a:r>
              <a:rPr lang="ru-RU" sz="1200" dirty="0" err="1"/>
              <a:t>mu</a:t>
            </a:r>
            <a:r>
              <a:rPr lang="ru-RU" sz="1200" dirty="0"/>
              <a:t>  - вязкость жидкости</a:t>
            </a:r>
            <a:endParaRPr lang="en-US" sz="1200" dirty="0"/>
          </a:p>
          <a:p>
            <a:pPr marL="0" indent="0">
              <a:buNone/>
            </a:pPr>
            <a:r>
              <a:rPr lang="ru-RU" sz="1200" dirty="0"/>
              <a:t>L – длина образца.</a:t>
            </a: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BC9AC-E1B1-4F84-8106-CBEB37ED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28F85F-B81A-4486-AB01-F3483D5DF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076" y="1669467"/>
            <a:ext cx="5890423" cy="3509539"/>
          </a:xfrm>
          <a:prstGeom prst="rect">
            <a:avLst/>
          </a:prstGeom>
        </p:spPr>
      </p:pic>
      <p:graphicFrame>
        <p:nvGraphicFramePr>
          <p:cNvPr id="8" name="Объект 9">
            <a:extLst>
              <a:ext uri="{FF2B5EF4-FFF2-40B4-BE49-F238E27FC236}">
                <a16:creationId xmlns:a16="http://schemas.microsoft.com/office/drawing/2014/main" id="{85D43A31-32B5-4E31-8A89-9B76D80DB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669968"/>
              </p:ext>
            </p:extLst>
          </p:nvPr>
        </p:nvGraphicFramePr>
        <p:xfrm>
          <a:off x="2110382" y="3574256"/>
          <a:ext cx="20955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Equation" r:id="rId4" imgW="698400" imgH="419040" progId="Equation.DSMT4">
                  <p:embed/>
                </p:oleObj>
              </mc:Choice>
              <mc:Fallback>
                <p:oleObj name="Equation" r:id="rId4" imgW="698400" imgH="419040" progId="Equation.DSMT4">
                  <p:embed/>
                  <p:pic>
                    <p:nvPicPr>
                      <p:cNvPr id="10" name="Объект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0382" y="3574256"/>
                        <a:ext cx="20955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165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ACA685-A983-46AF-8935-227CD401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</a:t>
            </a:r>
            <a:r>
              <a:rPr lang="en-US" dirty="0"/>
              <a:t>: </a:t>
            </a:r>
            <a:r>
              <a:rPr lang="ru-RU" dirty="0"/>
              <a:t>цифровые изображения горных пород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47EFA9-EB42-4CA7-B033-D8648A0F5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D5EAF-B1A5-4B6F-8A88-AEAF8E7409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2713"/>
            <a:ext cx="2743200" cy="365125"/>
          </a:xfrm>
        </p:spPr>
        <p:txBody>
          <a:bodyPr/>
          <a:lstStyle/>
          <a:p>
            <a:fld id="{EF6E9CCF-6B77-014E-B148-8F01409ADD26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97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7900-1A3C-4DEF-9014-FDBF6132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Сегментированное цифровые изображение горной породы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DD35CD-160C-4712-8708-811A33BD6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Результаты </a:t>
            </a:r>
            <a:r>
              <a:rPr lang="ru-RU" dirty="0" err="1"/>
              <a:t>микротомографического</a:t>
            </a:r>
            <a:r>
              <a:rPr lang="ru-RU" dirty="0"/>
              <a:t> исследования образца горной породы –набор изображений в градациях серого представляющий собой картину поглощения рентгеновского излучения внутри</a:t>
            </a:r>
          </a:p>
          <a:p>
            <a:r>
              <a:rPr lang="ru-RU" dirty="0"/>
              <a:t>Сегментация процедура перехода в пространстве образца от поглощения рентгеновского излучения к пространственному распределению компонентов, входящих в состав образца</a:t>
            </a:r>
          </a:p>
          <a:p>
            <a:r>
              <a:rPr lang="ru-RU" dirty="0"/>
              <a:t>Бинарная сегментация – разделение пикселей/</a:t>
            </a:r>
            <a:r>
              <a:rPr lang="ru-RU" dirty="0" err="1"/>
              <a:t>вокселей</a:t>
            </a:r>
            <a:r>
              <a:rPr lang="ru-RU" dirty="0"/>
              <a:t> на две фазы, принадлежащие порам и твердому веществу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21329-4A4B-4DA0-8920-6B199E30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D557B1-4F2F-45B0-97E0-F8438197D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365" y="2112963"/>
            <a:ext cx="2895600" cy="2695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4DE163-E845-474D-9910-D4291F19E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965" y="2064457"/>
            <a:ext cx="3359615" cy="277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34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27900-1A3C-4DEF-9014-FDBF6132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Двумерный случай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5508-ADA0-4A39-88DB-C2776F940B3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Для двумерного цифрового изображения с двух сторон необходимо добавить слой </a:t>
            </a:r>
            <a:r>
              <a:rPr lang="ru-RU" dirty="0" err="1"/>
              <a:t>вокселей</a:t>
            </a:r>
            <a:r>
              <a:rPr lang="ru-RU" dirty="0"/>
              <a:t> породы соответствующих стенкам лабораторной камеры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21329-4A4B-4DA0-8920-6B199E30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4A4FE9-3E78-4DCE-A04D-0390F5BD4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111" y="1551706"/>
            <a:ext cx="5755245" cy="438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54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41E8DF-9837-4848-B3D7-67FC1AD8B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файла изображения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C81240-CA05-4EF8-BD9A-D9402427D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/>
              <a:t>Изображение хранится в бинарном файле.</a:t>
            </a:r>
          </a:p>
          <a:p>
            <a:pPr marL="0" indent="0">
              <a:buNone/>
            </a:pPr>
            <a:r>
              <a:rPr lang="ru-RU" sz="2400" dirty="0"/>
              <a:t>Первые 8 байт представляют собой беззнаковый целый тип – размер изображения </a:t>
            </a:r>
            <a:r>
              <a:rPr lang="en-US" sz="2400" dirty="0"/>
              <a:t>N1</a:t>
            </a:r>
            <a:r>
              <a:rPr lang="ru-RU" sz="2400" dirty="0"/>
              <a:t> по первому измерению</a:t>
            </a:r>
            <a:endParaRPr lang="en-US" sz="2400" dirty="0"/>
          </a:p>
          <a:p>
            <a:pPr marL="0" indent="0">
              <a:buNone/>
            </a:pPr>
            <a:r>
              <a:rPr lang="ru-RU" sz="2400" dirty="0"/>
              <a:t>Вторые 8 байт - размер изображения </a:t>
            </a:r>
            <a:r>
              <a:rPr lang="en-US" sz="2400" dirty="0"/>
              <a:t>N</a:t>
            </a:r>
            <a:r>
              <a:rPr lang="ru-RU" sz="2400" dirty="0"/>
              <a:t>2 по второму направлению</a:t>
            </a:r>
          </a:p>
          <a:p>
            <a:pPr marL="0" indent="0">
              <a:buNone/>
            </a:pPr>
            <a:r>
              <a:rPr lang="ru-RU" sz="2400" dirty="0"/>
              <a:t>Третьи 8 байт – вещественное число – разрешение изображения </a:t>
            </a:r>
          </a:p>
          <a:p>
            <a:pPr marL="0" indent="0">
              <a:buNone/>
            </a:pPr>
            <a:r>
              <a:rPr lang="ru-RU" sz="2400" dirty="0"/>
              <a:t>Далее следует </a:t>
            </a:r>
            <a:r>
              <a:rPr lang="en-US" sz="2400" dirty="0"/>
              <a:t>N1*N2 </a:t>
            </a:r>
            <a:r>
              <a:rPr lang="ru-RU" sz="2400" dirty="0"/>
              <a:t>пикселей изображения. Один пиксель занимает 1 байт. Пиксель со значением 0 соответствует поре, 255 – породе.</a:t>
            </a:r>
          </a:p>
          <a:p>
            <a:pPr marL="0" indent="0">
              <a:buNone/>
            </a:pPr>
            <a:r>
              <a:rPr lang="ru-RU" sz="2400" dirty="0"/>
              <a:t>Для трехмерного случая – аналогично (добавляется еще 8 байт для размера третьего измерения)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4D8C4-D416-4AD5-83C8-8444E3AB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77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1B5554D-B634-46D3-AE41-ACC83FF94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2FB624-128F-4E6A-9ADC-B20A3C8FC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sz="1800" dirty="0"/>
              <a:t>Считать 2</a:t>
            </a:r>
            <a:r>
              <a:rPr lang="en-US" sz="1800" dirty="0"/>
              <a:t>D</a:t>
            </a:r>
            <a:r>
              <a:rPr lang="ru-RU" sz="1800" dirty="0"/>
              <a:t> изображение из файла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Записать 2</a:t>
            </a:r>
            <a:r>
              <a:rPr lang="en-US" sz="1800" dirty="0"/>
              <a:t>D</a:t>
            </a:r>
            <a:r>
              <a:rPr lang="ru-RU" sz="1800" dirty="0"/>
              <a:t> изображение в файл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Добавить стенки изображению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Вырезать из 2</a:t>
            </a:r>
            <a:r>
              <a:rPr lang="en-US" sz="1800" dirty="0"/>
              <a:t>D</a:t>
            </a:r>
            <a:r>
              <a:rPr lang="ru-RU" sz="1800" dirty="0"/>
              <a:t> изображения квадратную подобласть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Вырезать слайс из </a:t>
            </a:r>
            <a:r>
              <a:rPr lang="en-US" sz="1800" dirty="0"/>
              <a:t>3D</a:t>
            </a:r>
            <a:r>
              <a:rPr lang="ru-RU" sz="1800" dirty="0"/>
              <a:t> изображения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Поворот изображения</a:t>
            </a:r>
            <a:r>
              <a:rPr lang="en-US" sz="1800"/>
              <a:t> 2D</a:t>
            </a:r>
            <a:endParaRPr lang="ru-RU" sz="1800" dirty="0"/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Библиотека стандартных изображений</a:t>
            </a:r>
            <a:r>
              <a:rPr lang="en-US" sz="1800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1800" dirty="0"/>
              <a:t>Обтекание цилиндра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1800" dirty="0"/>
              <a:t>Извилистый канал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1800" dirty="0"/>
              <a:t>Удаление замкнутых пор из изображения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C345C-69BB-4943-9A74-C0DB829F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382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Оценивание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Максимальная оценка за модуль 10 баллов</a:t>
            </a:r>
            <a:endParaRPr lang="en-US" dirty="0" smtClean="0"/>
          </a:p>
          <a:p>
            <a:pPr lvl="1"/>
            <a:r>
              <a:rPr lang="en-US" dirty="0" smtClean="0"/>
              <a:t>4 </a:t>
            </a:r>
            <a:r>
              <a:rPr lang="ru-RU" dirty="0" smtClean="0"/>
              <a:t>балла. Отчет о проделанной работе</a:t>
            </a:r>
          </a:p>
          <a:p>
            <a:pPr lvl="2"/>
            <a:r>
              <a:rPr lang="ru-RU" dirty="0" smtClean="0"/>
              <a:t>3 балла. Структура модуля</a:t>
            </a:r>
          </a:p>
          <a:p>
            <a:pPr lvl="2"/>
            <a:r>
              <a:rPr lang="ru-RU" dirty="0" smtClean="0"/>
              <a:t>1 балл. Тестирование</a:t>
            </a:r>
          </a:p>
          <a:p>
            <a:pPr lvl="1"/>
            <a:r>
              <a:rPr lang="ru-RU" dirty="0" smtClean="0"/>
              <a:t>3 балла. Демонстрация работы на занятии</a:t>
            </a:r>
          </a:p>
          <a:p>
            <a:pPr lvl="1"/>
            <a:r>
              <a:rPr lang="ru-RU" dirty="0" smtClean="0"/>
              <a:t>3 балла. Корректное удаление замкнутых пор</a:t>
            </a:r>
          </a:p>
          <a:p>
            <a:pPr lvl="1"/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680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6EC32C-7DFB-43D2-BE14-CBD88978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</a:t>
            </a:r>
            <a:r>
              <a:rPr lang="en-US" dirty="0"/>
              <a:t>: </a:t>
            </a:r>
            <a:r>
              <a:rPr lang="ru-RU" dirty="0"/>
              <a:t>решение ленточной СЛАУ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294EC4-23A8-4D9D-9A9C-4AC00469C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2AF17-2BE1-4A71-A3AA-01C99B23BA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2713"/>
            <a:ext cx="2743200" cy="365125"/>
          </a:xfrm>
        </p:spPr>
        <p:txBody>
          <a:bodyPr/>
          <a:lstStyle/>
          <a:p>
            <a:fld id="{EF6E9CCF-6B77-014E-B148-8F01409ADD26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626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Симметричная положительно определенная матрица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𝐴𝑧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 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Самый простой способ получить такую матрицу для тестов</a:t>
                </a:r>
                <a:r>
                  <a:rPr lang="en-US" dirty="0"/>
                  <a:t>:</a:t>
                </a:r>
                <a:r>
                  <a:rPr lang="ru-RU" dirty="0"/>
                  <a:t> взять невырожденную матрицу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на ее основе сконструировать матрицу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5" name="Объект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476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решения СЛАУ с симметричной положительно определенной матрицей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Прямые методы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ru-RU" dirty="0"/>
                  <a:t>Разложение </a:t>
                </a:r>
                <a:r>
                  <a:rPr lang="ru-RU" dirty="0" err="1"/>
                  <a:t>Холесского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  <a:r>
                  <a:rPr lang="ru-RU" dirty="0"/>
                  <a:t>Решение исходной системы сводится к решению двух систем с треугольной матрицей. С.П. </a:t>
                </a:r>
                <a:r>
                  <a:rPr lang="ru-RU" dirty="0" err="1"/>
                  <a:t>Шарый</a:t>
                </a:r>
                <a:r>
                  <a:rPr lang="ru-RU" dirty="0"/>
                  <a:t>, Курс ВЫЧИСЛИТЕЛЬНЫХ МЕТОДОВ, страница 440.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Итерационные методы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ru-RU" dirty="0"/>
                  <a:t>Метод сопряженных градиентов. С.П. </a:t>
                </a:r>
                <a:r>
                  <a:rPr lang="ru-RU" dirty="0" err="1"/>
                  <a:t>Шарый</a:t>
                </a:r>
                <a:r>
                  <a:rPr lang="ru-RU" dirty="0"/>
                  <a:t>, Курс ВЫЧИСЛИТЕЛЬНЫХ МЕТОДОВ, страница 539.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241" r="-14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996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Считывание плотной матрицы</a:t>
            </a:r>
          </a:p>
          <a:p>
            <a:r>
              <a:rPr lang="ru-RU" dirty="0"/>
              <a:t>Считывание </a:t>
            </a:r>
            <a:r>
              <a:rPr lang="ru-RU" dirty="0" err="1"/>
              <a:t>пятидиагональной</a:t>
            </a:r>
            <a:r>
              <a:rPr lang="ru-RU" dirty="0"/>
              <a:t> матрицы или </a:t>
            </a:r>
            <a:r>
              <a:rPr lang="en-US" dirty="0"/>
              <a:t>CSR </a:t>
            </a:r>
            <a:r>
              <a:rPr lang="ru-RU" dirty="0"/>
              <a:t>матрицы</a:t>
            </a:r>
          </a:p>
          <a:p>
            <a:r>
              <a:rPr lang="ru-RU" dirty="0"/>
              <a:t>Считывание правой части</a:t>
            </a:r>
          </a:p>
          <a:p>
            <a:r>
              <a:rPr lang="ru-RU" dirty="0"/>
              <a:t>Вывод вектора-решения</a:t>
            </a:r>
          </a:p>
          <a:p>
            <a:r>
              <a:rPr lang="ru-RU" dirty="0"/>
              <a:t>Адекватная обработка ситуации, когда итерационный метод не сходится или в прямом методе не удалось факторизовать матрицу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2008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Оценивание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 smtClean="0"/>
              <a:t>Максимальная оценка за модуль 10 баллов</a:t>
            </a:r>
            <a:endParaRPr lang="en-US" sz="2400" dirty="0" smtClean="0"/>
          </a:p>
          <a:p>
            <a:pPr lvl="1"/>
            <a:r>
              <a:rPr lang="ru-RU" sz="2000" dirty="0" smtClean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балла. Плотные матрицы</a:t>
            </a:r>
          </a:p>
          <a:p>
            <a:pPr lvl="2"/>
            <a:r>
              <a:rPr lang="ru-RU" sz="1800" dirty="0" smtClean="0"/>
              <a:t>2 балла. Отчет</a:t>
            </a:r>
          </a:p>
          <a:p>
            <a:pPr lvl="3"/>
            <a:r>
              <a:rPr lang="ru-RU" sz="1600" dirty="0" smtClean="0"/>
              <a:t>1 балл. Структура модуля</a:t>
            </a:r>
          </a:p>
          <a:p>
            <a:pPr lvl="3"/>
            <a:r>
              <a:rPr lang="ru-RU" sz="1600" dirty="0" smtClean="0"/>
              <a:t>1 балл. Тестирование</a:t>
            </a:r>
          </a:p>
          <a:p>
            <a:pPr lvl="2"/>
            <a:r>
              <a:rPr lang="ru-RU" sz="1800" dirty="0" smtClean="0"/>
              <a:t>1 балл. Демонстрация работы</a:t>
            </a:r>
            <a:r>
              <a:rPr lang="en-US" sz="1800" dirty="0" smtClean="0"/>
              <a:t>. </a:t>
            </a:r>
            <a:r>
              <a:rPr lang="ru-RU" sz="1800" dirty="0" smtClean="0"/>
              <a:t>Относительная точность решения 1</a:t>
            </a:r>
            <a:r>
              <a:rPr lang="en-US" sz="1800" dirty="0" smtClean="0"/>
              <a:t>e-8</a:t>
            </a:r>
            <a:endParaRPr lang="ru-RU" sz="1800" dirty="0" smtClean="0"/>
          </a:p>
          <a:p>
            <a:pPr lvl="1"/>
            <a:r>
              <a:rPr lang="en-US" sz="2000" dirty="0" smtClean="0"/>
              <a:t>6</a:t>
            </a:r>
            <a:r>
              <a:rPr lang="ru-RU" sz="2000" dirty="0" smtClean="0"/>
              <a:t> </a:t>
            </a:r>
            <a:r>
              <a:rPr lang="ru-RU" sz="2000" dirty="0" smtClean="0"/>
              <a:t>баллов. </a:t>
            </a:r>
            <a:r>
              <a:rPr lang="en-US" sz="2000" dirty="0" smtClean="0"/>
              <a:t>CSR </a:t>
            </a:r>
            <a:r>
              <a:rPr lang="ru-RU" sz="2000" dirty="0" smtClean="0"/>
              <a:t>или ленточные матрицы </a:t>
            </a:r>
          </a:p>
          <a:p>
            <a:pPr lvl="2"/>
            <a:r>
              <a:rPr lang="ru-RU" sz="1800" dirty="0" smtClean="0"/>
              <a:t>4 балла</a:t>
            </a:r>
            <a:r>
              <a:rPr lang="en-US" sz="1800" dirty="0" smtClean="0"/>
              <a:t>. </a:t>
            </a:r>
            <a:r>
              <a:rPr lang="ru-RU" sz="1800" dirty="0" smtClean="0"/>
              <a:t>Отчет</a:t>
            </a:r>
          </a:p>
          <a:p>
            <a:pPr lvl="3"/>
            <a:r>
              <a:rPr lang="ru-RU" sz="1600" dirty="0" smtClean="0"/>
              <a:t>2 балла. </a:t>
            </a:r>
            <a:r>
              <a:rPr lang="ru-RU" sz="1600" dirty="0"/>
              <a:t>Структура модуля</a:t>
            </a:r>
          </a:p>
          <a:p>
            <a:pPr lvl="3"/>
            <a:r>
              <a:rPr lang="ru-RU" sz="1600" dirty="0" smtClean="0"/>
              <a:t>2 балла. Тестирование</a:t>
            </a:r>
          </a:p>
          <a:p>
            <a:pPr lvl="2"/>
            <a:r>
              <a:rPr lang="en-US" sz="1800" dirty="0" smtClean="0"/>
              <a:t>2</a:t>
            </a:r>
            <a:r>
              <a:rPr lang="ru-RU" sz="1800" dirty="0" smtClean="0"/>
              <a:t> </a:t>
            </a:r>
            <a:r>
              <a:rPr lang="ru-RU" sz="1800" dirty="0" smtClean="0"/>
              <a:t>балла. Демонстрация работы. Относительная </a:t>
            </a:r>
            <a:r>
              <a:rPr lang="ru-RU" sz="1800" dirty="0"/>
              <a:t>точность решения 1</a:t>
            </a:r>
            <a:r>
              <a:rPr lang="en-US" sz="1800" dirty="0" smtClean="0"/>
              <a:t>e-8</a:t>
            </a:r>
          </a:p>
          <a:p>
            <a:pPr lvl="1"/>
            <a:r>
              <a:rPr lang="en-US" sz="2000" dirty="0" smtClean="0"/>
              <a:t>1 </a:t>
            </a:r>
            <a:r>
              <a:rPr lang="ru-RU" sz="2000" dirty="0" smtClean="0"/>
              <a:t>балл. Метод сопряженных градиентов реализован только один раз, то есть один и тот же код работает как с плотными матрицами, так и разреженными. Для прямого метода 1 балл начисляется  за реализацию для ленточных</a:t>
            </a:r>
            <a:r>
              <a:rPr lang="en-US" sz="2000" dirty="0" smtClean="0"/>
              <a:t>/</a:t>
            </a:r>
            <a:r>
              <a:rPr lang="ru-RU" sz="2000" dirty="0" smtClean="0"/>
              <a:t>разреженных матрицах</a:t>
            </a:r>
            <a:endParaRPr lang="ru-RU" sz="2000" dirty="0" smtClean="0"/>
          </a:p>
          <a:p>
            <a:pPr lvl="1"/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894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7E92F5D-6EB0-44C1-8E12-358837FD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</a:t>
            </a:r>
            <a:r>
              <a:rPr lang="en-US" dirty="0"/>
              <a:t>: </a:t>
            </a:r>
            <a:r>
              <a:rPr lang="ru-RU" dirty="0"/>
              <a:t>решение уравнения Стокса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B77E64-F93D-4EF8-9D75-541F07F2B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17BAE-A08B-4205-B516-18E1D0497E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62713"/>
            <a:ext cx="2743200" cy="365125"/>
          </a:xfrm>
        </p:spPr>
        <p:txBody>
          <a:bodyPr/>
          <a:lstStyle/>
          <a:p>
            <a:fld id="{EF6E9CCF-6B77-014E-B148-8F01409ADD26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707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11B50-F514-4009-BC6D-4856144C5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Уравнение Стокса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DE129F-9984-4D14-856B-8768248B8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u  - </a:t>
            </a:r>
            <a:r>
              <a:rPr lang="ru-RU" dirty="0"/>
              <a:t>вектор скорости</a:t>
            </a:r>
          </a:p>
          <a:p>
            <a:r>
              <a:rPr lang="en-US" dirty="0"/>
              <a:t>p – </a:t>
            </a:r>
            <a:r>
              <a:rPr lang="ru-RU" dirty="0"/>
              <a:t>давление</a:t>
            </a:r>
          </a:p>
          <a:p>
            <a:r>
              <a:rPr lang="ru-RU" dirty="0"/>
              <a:t>µ - динамическая вязкость жидкости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ED3F67-52DC-40E4-A5A2-EE3345B2B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14" y="2574639"/>
            <a:ext cx="3033687" cy="10692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A0A537-D7EA-46F2-8213-BC6556F56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909" y="1638805"/>
            <a:ext cx="5755245" cy="4389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289E18-23BD-4961-87E3-E20425C40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14" y="3921416"/>
            <a:ext cx="3520248" cy="8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751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dirty="0" err="1"/>
              <a:t>Узавы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Обозначим индексами </a:t>
                </a:r>
                <a:r>
                  <a:rPr lang="en-US" dirty="0"/>
                  <a:t>d </a:t>
                </a:r>
                <a:r>
                  <a:rPr lang="ru-RU" dirty="0"/>
                  <a:t>дискретные аналоги операторов Лапласа, дивергенции и градиента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ru-RU" dirty="0"/>
                  <a:t>)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Метод </a:t>
                </a:r>
                <a:r>
                  <a:rPr lang="ru-RU" dirty="0" err="1"/>
                  <a:t>Узавы</a:t>
                </a:r>
                <a:r>
                  <a:rPr lang="ru-RU" dirty="0"/>
                  <a:t> заключается в поочередном обновлении компонент вектора скорости и значений давления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На каждом шаге необходимо решать конечно-разностный аналог уравнения Пуассона. При этом матрица не меняется, меняется только правая часть.</a:t>
                </a:r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2241" r="-1525" b="-33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818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Конечно-разностная схема на сдвинутых сетках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Marker and cell</a:t>
            </a:r>
            <a:endParaRPr lang="ru-RU" sz="2800" dirty="0"/>
          </a:p>
        </p:txBody>
      </p:sp>
      <p:sp>
        <p:nvSpPr>
          <p:cNvPr id="18" name="Рисунок 17"/>
          <p:cNvSpPr>
            <a:spLocks noGrp="1"/>
          </p:cNvSpPr>
          <p:nvPr>
            <p:ph type="pic" idx="1"/>
          </p:nvPr>
        </p:nvSpPr>
        <p:spPr/>
      </p:sp>
      <p:sp>
        <p:nvSpPr>
          <p:cNvPr id="19" name="Текст 1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Зеленым обозначены стенки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Красным – место задания граничных условий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Давление </a:t>
            </a:r>
            <a:r>
              <a:rPr lang="en-US" dirty="0"/>
              <a:t>“</a:t>
            </a:r>
            <a:r>
              <a:rPr lang="ru-RU" dirty="0"/>
              <a:t>живет</a:t>
            </a:r>
            <a:r>
              <a:rPr lang="en-US" dirty="0"/>
              <a:t>”</a:t>
            </a:r>
            <a:r>
              <a:rPr lang="ru-RU" dirty="0"/>
              <a:t> в центрах ячеек (точка)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Горизонтальная компонента вектора скорости – на вертикальных гранях (горизонтальные черточки)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Вертикальная компонента вектора скорости – на горизонтальных гранях (вертикальные черточки)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6227445" y="1847850"/>
            <a:ext cx="4321175" cy="273050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6227445" y="4825568"/>
            <a:ext cx="4321175" cy="279832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7576820" y="2120900"/>
            <a:ext cx="269875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113396" y="3736542"/>
            <a:ext cx="1085850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8923020" y="2660434"/>
            <a:ext cx="815975" cy="549491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227445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275571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97" y="1815427"/>
            <a:ext cx="4395828" cy="33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973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Конечно-разностная схема на сдвинутых сетках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Marker and cell</a:t>
            </a:r>
            <a:endParaRPr lang="ru-RU" sz="2800" dirty="0"/>
          </a:p>
        </p:txBody>
      </p:sp>
      <p:sp>
        <p:nvSpPr>
          <p:cNvPr id="18" name="Рисунок 17"/>
          <p:cNvSpPr>
            <a:spLocks noGrp="1"/>
          </p:cNvSpPr>
          <p:nvPr>
            <p:ph type="pic" idx="1"/>
          </p:nvPr>
        </p:nvSpPr>
        <p:spPr/>
      </p:sp>
      <p:sp>
        <p:nvSpPr>
          <p:cNvPr id="19" name="Текст 1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Компоненты градиента давления и лапласиан компонент вектора скорости </a:t>
            </a:r>
            <a:r>
              <a:rPr lang="en-US" dirty="0"/>
              <a:t>“</a:t>
            </a:r>
            <a:r>
              <a:rPr lang="ru-RU" dirty="0"/>
              <a:t>живут</a:t>
            </a:r>
            <a:r>
              <a:rPr lang="en-US" dirty="0"/>
              <a:t>”</a:t>
            </a:r>
            <a:r>
              <a:rPr lang="ru-RU" dirty="0"/>
              <a:t> там же где и компоненты вектора скорости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Дивергенция скорости </a:t>
            </a:r>
            <a:r>
              <a:rPr lang="en-US" dirty="0"/>
              <a:t>“</a:t>
            </a:r>
            <a:r>
              <a:rPr lang="ru-RU" dirty="0"/>
              <a:t>живет</a:t>
            </a:r>
            <a:r>
              <a:rPr lang="en-US" dirty="0"/>
              <a:t>”</a:t>
            </a:r>
            <a:r>
              <a:rPr lang="ru-RU" dirty="0"/>
              <a:t> в центрах ячеек.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центре красных ячеек давление известно (условие Дирихле).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центре красных ячеек ставится условие Неймана на горизонтальную компоненту вектора скорости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Вертикальная компонента вектора скорости на гранях красных ячеек считается равной нулю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6227445" y="1847850"/>
            <a:ext cx="4321175" cy="273050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6227445" y="4825568"/>
            <a:ext cx="4321175" cy="279832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7576820" y="2120900"/>
            <a:ext cx="269875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113396" y="3736542"/>
            <a:ext cx="1085850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8923020" y="2660434"/>
            <a:ext cx="815975" cy="549491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227445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275571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97" y="1815427"/>
            <a:ext cx="4395828" cy="33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967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Конечно-разностная схема на сдвинутых сетках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Marker and cell</a:t>
            </a:r>
            <a:endParaRPr lang="ru-RU" sz="2800" dirty="0"/>
          </a:p>
        </p:txBody>
      </p:sp>
      <p:sp>
        <p:nvSpPr>
          <p:cNvPr id="18" name="Рисунок 17"/>
          <p:cNvSpPr>
            <a:spLocks noGrp="1"/>
          </p:cNvSpPr>
          <p:nvPr>
            <p:ph type="pic" idx="1"/>
          </p:nvPr>
        </p:nvSpPr>
        <p:spPr/>
      </p:sp>
      <p:sp>
        <p:nvSpPr>
          <p:cNvPr id="19" name="Текст 1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границе раздела пор и породы на компоненты вектора скорости ставятся условия </a:t>
            </a:r>
            <a:r>
              <a:rPr lang="ru-RU" dirty="0" err="1"/>
              <a:t>непротекания</a:t>
            </a:r>
            <a:r>
              <a:rPr lang="ru-RU" dirty="0"/>
              <a:t> и прилипания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Нормальная компонента вектора скорости равная нулю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Касательная компонента вектора скорости равна нулю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границе раздела пор и породы на давление ставится условие Неймана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Внутри породы давление и скорости считаются неопределенными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6227445" y="1847850"/>
            <a:ext cx="4321175" cy="273050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6227445" y="4825568"/>
            <a:ext cx="4321175" cy="279832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7576820" y="2120900"/>
            <a:ext cx="269875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113396" y="3736542"/>
            <a:ext cx="1085850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8923020" y="2660434"/>
            <a:ext cx="815975" cy="549491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227445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275571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97" y="1815427"/>
            <a:ext cx="4395828" cy="33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50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Конечно-разностная схема на сдвинутых сетках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Marker and cell</a:t>
            </a:r>
            <a:endParaRPr lang="ru-RU" sz="2800" dirty="0"/>
          </a:p>
        </p:txBody>
      </p:sp>
      <p:sp>
        <p:nvSpPr>
          <p:cNvPr id="18" name="Рисунок 17"/>
          <p:cNvSpPr>
            <a:spLocks noGrp="1"/>
          </p:cNvSpPr>
          <p:nvPr>
            <p:ph type="pic" idx="1"/>
          </p:nvPr>
        </p:nvSpPr>
        <p:spPr/>
      </p:sp>
      <p:sp>
        <p:nvSpPr>
          <p:cNvPr id="19" name="Текст 1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границе раздела пор и породы на компоненты вектора скорости ставятся условия </a:t>
            </a:r>
            <a:r>
              <a:rPr lang="ru-RU" dirty="0" err="1"/>
              <a:t>непротекания</a:t>
            </a:r>
            <a:r>
              <a:rPr lang="ru-RU" dirty="0"/>
              <a:t> и прилипания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Нормальная компонента вектора скорости равная нулю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Касательная компонента вектора скорости равна нулю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 границе раздела пор и породы на давление ставится условие Неймана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Внутри породы давление и скорости считаются неопределенными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20" name="Прямоугольник 19"/>
          <p:cNvSpPr/>
          <p:nvPr/>
        </p:nvSpPr>
        <p:spPr>
          <a:xfrm>
            <a:off x="6227445" y="1847850"/>
            <a:ext cx="4321175" cy="273050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6227445" y="4825568"/>
            <a:ext cx="4321175" cy="279832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7576820" y="2120900"/>
            <a:ext cx="269875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8113396" y="3736542"/>
            <a:ext cx="1085850" cy="1089025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8923020" y="2660434"/>
            <a:ext cx="815975" cy="549491"/>
          </a:xfrm>
          <a:prstGeom prst="rect">
            <a:avLst/>
          </a:prstGeom>
          <a:solidFill>
            <a:srgbClr val="54B686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227445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10275571" y="2120900"/>
            <a:ext cx="273051" cy="2704667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Объект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997" y="1815427"/>
            <a:ext cx="4395828" cy="33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62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Аппроксимация градиента давления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>
                                <m:f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num>
                            <m:den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den>
                              </m:f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Если одно из необходимых значений давления попадает внутрь стенки, то это означает, что мы считаем градиент на границе, где задано условие Неймана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, то есть компонента градиента равна нулю.</a:t>
                </a:r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 t="-420" r="-15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850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Аппроксимация дивергенции вектора скорости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+1/2,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−1/2,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Дивергенция скорости рассчитывается в центре ячеек, поэтому все необходимые значения компонент вектора скорости всегда определены</a:t>
                </a:r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651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Аппроксимация лапласиана вектора скорости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+1/2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ru-RU" dirty="0"/>
              </a:p>
              <a:p>
                <a:pPr marL="0" indent="0" algn="ctr">
                  <a:buNone/>
                </a:pP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ru-RU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  <m:r>
                          <a:rPr lang="ru-RU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Объект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526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Аппроксимация лапласиана вектора скорости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79425" y="1915200"/>
            <a:ext cx="8604695" cy="4351338"/>
          </a:xfrm>
        </p:spPr>
        <p:txBody>
          <a:bodyPr/>
          <a:lstStyle/>
          <a:p>
            <a:r>
              <a:rPr lang="ru-RU" dirty="0"/>
              <a:t>Если одна из компонент вектора скорости попадает на границу раздела пор и породы?</a:t>
            </a:r>
          </a:p>
          <a:p>
            <a:pPr lvl="1"/>
            <a:r>
              <a:rPr lang="ru-RU" dirty="0"/>
              <a:t>Срабатывает условие прилипания или </a:t>
            </a:r>
            <a:r>
              <a:rPr lang="ru-RU" dirty="0" err="1"/>
              <a:t>непротекания</a:t>
            </a:r>
            <a:r>
              <a:rPr lang="ru-RU" dirty="0"/>
              <a:t> – подставляем вместо нее ноль.</a:t>
            </a:r>
          </a:p>
          <a:p>
            <a:r>
              <a:rPr lang="ru-RU" dirty="0"/>
              <a:t>Если одна из компонент вектора скорости попадает внутрь породы?</a:t>
            </a:r>
            <a:endParaRPr lang="en-US" dirty="0"/>
          </a:p>
          <a:p>
            <a:pPr lvl="1"/>
            <a:r>
              <a:rPr lang="ru-RU" dirty="0"/>
              <a:t>Тогда пользуемся условием прилипания в точке, отмеченной синим ромбом. Усредненная скорость в данной точке должна быть равная нулю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24</a:t>
            </a:fld>
            <a:endParaRPr lang="ru-RU"/>
          </a:p>
        </p:txBody>
      </p:sp>
      <p:grpSp>
        <p:nvGrpSpPr>
          <p:cNvPr id="14" name="Группа 13"/>
          <p:cNvGrpSpPr/>
          <p:nvPr/>
        </p:nvGrpSpPr>
        <p:grpSpPr>
          <a:xfrm>
            <a:off x="9203062" y="3563025"/>
            <a:ext cx="2200275" cy="2247900"/>
            <a:chOff x="9182100" y="4248150"/>
            <a:chExt cx="1905890" cy="1874125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82100" y="4248150"/>
              <a:ext cx="1905890" cy="1874125"/>
            </a:xfrm>
            <a:prstGeom prst="rect">
              <a:avLst/>
            </a:prstGeom>
          </p:spPr>
        </p:pic>
        <p:sp>
          <p:nvSpPr>
            <p:cNvPr id="8" name="Овал 7"/>
            <p:cNvSpPr/>
            <p:nvPr/>
          </p:nvSpPr>
          <p:spPr>
            <a:xfrm>
              <a:off x="10036620" y="4327525"/>
              <a:ext cx="133350" cy="1428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9493695" y="4867275"/>
              <a:ext cx="133350" cy="1428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10036620" y="4867275"/>
              <a:ext cx="133350" cy="1428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/>
            <p:cNvSpPr/>
            <p:nvPr/>
          </p:nvSpPr>
          <p:spPr>
            <a:xfrm>
              <a:off x="10579545" y="4867275"/>
              <a:ext cx="133350" cy="1428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10036620" y="5407025"/>
              <a:ext cx="133350" cy="142875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Ромб 3"/>
            <p:cNvSpPr/>
            <p:nvPr/>
          </p:nvSpPr>
          <p:spPr>
            <a:xfrm>
              <a:off x="10012807" y="4569643"/>
              <a:ext cx="178943" cy="192437"/>
            </a:xfrm>
            <a:prstGeom prst="diamond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875076" y="5631929"/>
                <a:ext cx="2039574" cy="7122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6" y="5631929"/>
                <a:ext cx="2039574" cy="712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 стрелкой 16"/>
          <p:cNvCxnSpPr/>
          <p:nvPr/>
        </p:nvCxnSpPr>
        <p:spPr>
          <a:xfrm>
            <a:off x="3238500" y="6038850"/>
            <a:ext cx="10382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4395667" y="5631929"/>
                <a:ext cx="2039574" cy="531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5667" y="5631929"/>
                <a:ext cx="2039574" cy="5310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831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Аппроксимация лапласиана вектора скорости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479425" y="1915200"/>
            <a:ext cx="8604695" cy="4351338"/>
          </a:xfrm>
        </p:spPr>
        <p:txBody>
          <a:bodyPr/>
          <a:lstStyle/>
          <a:p>
            <a:r>
              <a:rPr lang="ru-RU" dirty="0"/>
              <a:t>Если компоненты вектора скорости находятся на границе, где задано давление?</a:t>
            </a:r>
          </a:p>
          <a:p>
            <a:pPr lvl="1"/>
            <a:r>
              <a:rPr lang="ru-RU" dirty="0"/>
              <a:t>Тогда пользуемся условием Неймана в точке, отмеченной синим ромбом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25</a:t>
            </a:fld>
            <a:endParaRPr lang="ru-RU"/>
          </a:p>
        </p:txBody>
      </p:sp>
      <p:grpSp>
        <p:nvGrpSpPr>
          <p:cNvPr id="16" name="Группа 15"/>
          <p:cNvGrpSpPr/>
          <p:nvPr/>
        </p:nvGrpSpPr>
        <p:grpSpPr>
          <a:xfrm>
            <a:off x="8709358" y="3097528"/>
            <a:ext cx="2361279" cy="2361279"/>
            <a:chOff x="8709358" y="3097528"/>
            <a:chExt cx="2361279" cy="2361279"/>
          </a:xfrm>
        </p:grpSpPr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9358" y="3097528"/>
              <a:ext cx="2361279" cy="2361279"/>
            </a:xfrm>
            <a:prstGeom prst="rect">
              <a:avLst/>
            </a:prstGeom>
          </p:spPr>
        </p:pic>
        <p:sp>
          <p:nvSpPr>
            <p:cNvPr id="8" name="Овал 7"/>
            <p:cNvSpPr/>
            <p:nvPr/>
          </p:nvSpPr>
          <p:spPr>
            <a:xfrm>
              <a:off x="9336144" y="3471228"/>
              <a:ext cx="153947" cy="1713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/>
            <p:cNvSpPr/>
            <p:nvPr/>
          </p:nvSpPr>
          <p:spPr>
            <a:xfrm>
              <a:off x="8744180" y="4065826"/>
              <a:ext cx="153947" cy="1713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Овал 9"/>
            <p:cNvSpPr/>
            <p:nvPr/>
          </p:nvSpPr>
          <p:spPr>
            <a:xfrm>
              <a:off x="9336144" y="4064096"/>
              <a:ext cx="153947" cy="1713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Овал 10"/>
            <p:cNvSpPr/>
            <p:nvPr/>
          </p:nvSpPr>
          <p:spPr>
            <a:xfrm>
              <a:off x="9913708" y="4064096"/>
              <a:ext cx="153947" cy="1713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/>
            <p:cNvSpPr/>
            <p:nvPr/>
          </p:nvSpPr>
          <p:spPr>
            <a:xfrm>
              <a:off x="9336144" y="4645791"/>
              <a:ext cx="153947" cy="17137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Ромб 3"/>
            <p:cNvSpPr/>
            <p:nvPr/>
          </p:nvSpPr>
          <p:spPr>
            <a:xfrm>
              <a:off x="9012037" y="4034373"/>
              <a:ext cx="206583" cy="230817"/>
            </a:xfrm>
            <a:prstGeom prst="diamond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875076" y="3793658"/>
                <a:ext cx="2039574" cy="7587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76" y="3793658"/>
                <a:ext cx="2039574" cy="758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Прямая со стрелкой 16"/>
          <p:cNvCxnSpPr/>
          <p:nvPr/>
        </p:nvCxnSpPr>
        <p:spPr>
          <a:xfrm>
            <a:off x="2997431" y="4214338"/>
            <a:ext cx="10382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4338335" y="3884260"/>
                <a:ext cx="2039574" cy="531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b>
                          </m:sSub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8335" y="3884260"/>
                <a:ext cx="2039574" cy="531043"/>
              </a:xfrm>
              <a:prstGeom prst="rect">
                <a:avLst/>
              </a:prstGeom>
              <a:blipFill>
                <a:blip r:embed="rId4"/>
                <a:stretch>
                  <a:fillRect b="-1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3242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матрицы для определения скоростей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С использованием конечно-разностной аппроксимации оператора Лапласа и градиента нужно собрать матрицу и правую часть для определения скоростей.</a:t>
                </a:r>
              </a:p>
              <a:p>
                <a:r>
                  <a:rPr lang="ru-RU" dirty="0"/>
                  <a:t>Данная матрица должна быть симметричной и положительно определенной.</a:t>
                </a:r>
              </a:p>
              <a:p>
                <a:r>
                  <a:rPr lang="ru-RU" dirty="0"/>
                  <a:t>Для этого необходимо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ru-RU" dirty="0" err="1"/>
                  <a:t>Домножить</a:t>
                </a:r>
                <a:r>
                  <a:rPr lang="ru-RU" dirty="0"/>
                  <a:t> матрицу и правую часть на -1.</a:t>
                </a:r>
                <a:endParaRPr lang="en-US" dirty="0"/>
              </a:p>
              <a:p>
                <a:pPr lvl="1"/>
                <a:r>
                  <a:rPr lang="ru-RU" dirty="0"/>
                  <a:t>Либо исключить из системы, те компоненты вектора скорости, значения которых </a:t>
                </a:r>
                <a:r>
                  <a:rPr lang="ru-RU" dirty="0" err="1"/>
                  <a:t>неопределены</a:t>
                </a:r>
                <a:r>
                  <a:rPr lang="ru-RU" dirty="0"/>
                  <a:t> или известны.</a:t>
                </a:r>
              </a:p>
              <a:p>
                <a:pPr lvl="1"/>
                <a:r>
                  <a:rPr lang="ru-RU" dirty="0"/>
                  <a:t>Либо добавить для них в матрицу фиктивные блоки размера </a:t>
                </a:r>
                <a:r>
                  <a:rPr lang="en-US" dirty="0"/>
                  <a:t>1x1</a:t>
                </a:r>
                <a:r>
                  <a:rPr lang="ru-RU" dirty="0"/>
                  <a:t> вида</a:t>
                </a:r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0" t="-2241" b="-51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612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Считать 2</a:t>
            </a:r>
            <a:r>
              <a:rPr lang="en-US" dirty="0"/>
              <a:t>D</a:t>
            </a:r>
            <a:r>
              <a:rPr lang="ru-RU" dirty="0"/>
              <a:t> изображение из файла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Считать значение вязкости и перепада давления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Вывести в файл распределение давления и скоростей потока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Вывести в файл рассчитанное значение абсолютной проницаемости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7145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Оценивание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Максимальная оценка за модуль </a:t>
            </a:r>
            <a:r>
              <a:rPr lang="en-US" dirty="0" smtClean="0"/>
              <a:t>2</a:t>
            </a:r>
            <a:r>
              <a:rPr lang="ru-RU" dirty="0" smtClean="0"/>
              <a:t>0 баллов</a:t>
            </a:r>
            <a:endParaRPr lang="en-US" dirty="0" smtClean="0"/>
          </a:p>
          <a:p>
            <a:pPr lvl="1"/>
            <a:r>
              <a:rPr lang="en-US" dirty="0" smtClean="0"/>
              <a:t>1</a:t>
            </a:r>
            <a:r>
              <a:rPr lang="ru-RU" dirty="0" smtClean="0"/>
              <a:t>5</a:t>
            </a:r>
            <a:r>
              <a:rPr lang="en-US" dirty="0" smtClean="0"/>
              <a:t> </a:t>
            </a:r>
            <a:r>
              <a:rPr lang="ru-RU" dirty="0" smtClean="0"/>
              <a:t>баллов. Отчет</a:t>
            </a:r>
          </a:p>
          <a:p>
            <a:pPr lvl="2"/>
            <a:r>
              <a:rPr lang="ru-RU" dirty="0" smtClean="0"/>
              <a:t>3 балла. Структура кода</a:t>
            </a:r>
          </a:p>
          <a:p>
            <a:pPr lvl="2"/>
            <a:r>
              <a:rPr lang="ru-RU" dirty="0" smtClean="0"/>
              <a:t>7 баллов. Показать </a:t>
            </a:r>
            <a:r>
              <a:rPr lang="en-US" dirty="0" smtClean="0"/>
              <a:t>“</a:t>
            </a:r>
            <a:r>
              <a:rPr lang="ru-RU" dirty="0" smtClean="0"/>
              <a:t>адекватное</a:t>
            </a:r>
            <a:r>
              <a:rPr lang="en-US" dirty="0" smtClean="0"/>
              <a:t>” </a:t>
            </a:r>
            <a:r>
              <a:rPr lang="ru-RU" dirty="0" smtClean="0"/>
              <a:t>распределение скоростей и давления</a:t>
            </a:r>
          </a:p>
          <a:p>
            <a:pPr lvl="2"/>
            <a:r>
              <a:rPr lang="ru-RU" dirty="0" smtClean="0"/>
              <a:t>5 баллов. Течение </a:t>
            </a:r>
            <a:r>
              <a:rPr lang="ru-RU" dirty="0" err="1" smtClean="0"/>
              <a:t>Пуазейля</a:t>
            </a:r>
            <a:endParaRPr lang="ru-RU" dirty="0" smtClean="0"/>
          </a:p>
          <a:p>
            <a:pPr lvl="3"/>
            <a:r>
              <a:rPr lang="ru-RU" dirty="0" smtClean="0"/>
              <a:t>1 балл. Проведение сравнения</a:t>
            </a:r>
          </a:p>
          <a:p>
            <a:pPr lvl="3"/>
            <a:r>
              <a:rPr lang="ru-RU" dirty="0" smtClean="0"/>
              <a:t>По одному баллу за каждый 0 после запятой в относительной погрешности решения </a:t>
            </a:r>
            <a:r>
              <a:rPr lang="en-US" dirty="0" smtClean="0"/>
              <a:t>(l2 </a:t>
            </a:r>
            <a:r>
              <a:rPr lang="ru-RU" dirty="0" smtClean="0"/>
              <a:t>норма</a:t>
            </a:r>
            <a:r>
              <a:rPr lang="en-US" dirty="0" smtClean="0"/>
              <a:t>)</a:t>
            </a:r>
            <a:endParaRPr lang="ru-RU" dirty="0" smtClean="0"/>
          </a:p>
          <a:p>
            <a:pPr lvl="1"/>
            <a:r>
              <a:rPr lang="ru-RU" dirty="0" smtClean="0"/>
              <a:t>5 баллов. Демонстрация работы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E9CCF-6B77-014E-B148-8F01409ADD26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1819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">
      <a:dk1>
        <a:srgbClr val="282C33"/>
      </a:dk1>
      <a:lt1>
        <a:srgbClr val="FCFCFF"/>
      </a:lt1>
      <a:dk2>
        <a:srgbClr val="44546A"/>
      </a:dk2>
      <a:lt2>
        <a:srgbClr val="E7E6E6"/>
      </a:lt2>
      <a:accent1>
        <a:srgbClr val="54B686"/>
      </a:accent1>
      <a:accent2>
        <a:srgbClr val="34339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y2" id="{49E57E6F-B44F-3A45-91CA-3B0D8928B58E}" vid="{DCB7B441-8BA9-3B4D-A48C-C6C630DCC11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Макет_презентации_Цифровые_двойники</Template>
  <TotalTime>8596</TotalTime>
  <Words>1005</Words>
  <Application>Microsoft Office PowerPoint</Application>
  <PresentationFormat>Широкоэкранный</PresentationFormat>
  <Paragraphs>189</Paragraphs>
  <Slides>28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Play</vt:lpstr>
      <vt:lpstr>Тема Office</vt:lpstr>
      <vt:lpstr>Equation</vt:lpstr>
      <vt:lpstr>Решение уравнения Стокса в области со сложной геометрией границ</vt:lpstr>
      <vt:lpstr>Проницаемость горных пород</vt:lpstr>
      <vt:lpstr>Модуль: цифровые изображения горных пород</vt:lpstr>
      <vt:lpstr>Сегментированное цифровые изображение горной породы</vt:lpstr>
      <vt:lpstr>Двумерный случай</vt:lpstr>
      <vt:lpstr>Формат файла изображения</vt:lpstr>
      <vt:lpstr>Функциональность</vt:lpstr>
      <vt:lpstr>Оценивание</vt:lpstr>
      <vt:lpstr>Модуль: решение ленточной СЛАУ</vt:lpstr>
      <vt:lpstr>Симметричная положительно определенная матрица</vt:lpstr>
      <vt:lpstr>Методы решения СЛАУ с симметричной положительно определенной матрицей</vt:lpstr>
      <vt:lpstr>Функциональность</vt:lpstr>
      <vt:lpstr>Оценивание</vt:lpstr>
      <vt:lpstr>Модуль: решение уравнения Стокса</vt:lpstr>
      <vt:lpstr>Уравнение Стокса</vt:lpstr>
      <vt:lpstr>Метод Узавы</vt:lpstr>
      <vt:lpstr>Конечно-разностная схема на сдвинутых сетках  Marker and cell</vt:lpstr>
      <vt:lpstr>Конечно-разностная схема на сдвинутых сетках  Marker and cell</vt:lpstr>
      <vt:lpstr>Конечно-разностная схема на сдвинутых сетках  Marker and cell</vt:lpstr>
      <vt:lpstr>Конечно-разностная схема на сдвинутых сетках  Marker and cell</vt:lpstr>
      <vt:lpstr>Аппроксимация градиента давления</vt:lpstr>
      <vt:lpstr>Аппроксимация дивергенции вектора скорости</vt:lpstr>
      <vt:lpstr>Аппроксимация лапласиана вектора скорости</vt:lpstr>
      <vt:lpstr>Аппроксимация лапласиана вектора скорости</vt:lpstr>
      <vt:lpstr>Аппроксимация лапласиана вектора скорости</vt:lpstr>
      <vt:lpstr>Сборка матрицы для определения скоростей </vt:lpstr>
      <vt:lpstr>Функциональность</vt:lpstr>
      <vt:lpstr>Оценивание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Указатели</dc:title>
  <dc:creator>Прохоров Дмитрий Игоревич</dc:creator>
  <cp:lastModifiedBy>master</cp:lastModifiedBy>
  <cp:revision>383</cp:revision>
  <dcterms:created xsi:type="dcterms:W3CDTF">2024-07-24T04:05:19Z</dcterms:created>
  <dcterms:modified xsi:type="dcterms:W3CDTF">2025-11-19T08:12:18Z</dcterms:modified>
</cp:coreProperties>
</file>